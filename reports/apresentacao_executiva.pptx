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Brasil</c:v>
                </c:pt>
              </c:strCache>
            </c:strRef>
          </c:tx>
          <c:spPr>
            <a:solidFill>
              <a:srgbClr val="3E7A62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800" u="none">
                    <a:solidFill>
                      <a:srgbClr val="1E2B2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55.9</c:v>
                </c:pt>
                <c:pt idx="1">
                  <c:v>59.2</c:v>
                </c:pt>
                <c:pt idx="2">
                  <c:v>66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800" u="none">
                  <a:solidFill>
                    <a:srgbClr val="1E2B2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1E2B2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Influência</c:v>
                </c:pt>
              </c:strCache>
            </c:strRef>
          </c:tx>
          <c:spPr>
            <a:solidFill>
              <a:srgbClr val="3E7A6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E2B2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Distância para a meta de 2025</c:v>
                  </c:pt>
                  <c:pt idx="1">
                    <c:v>Região do país</c:v>
                  </c:pt>
                  <c:pt idx="2">
                    <c:v>Posição do município na UF</c:v>
                  </c:pt>
                  <c:pt idx="3">
                    <c:v>Proficiência em Português (2023)</c:v>
                  </c:pt>
                  <c:pt idx="4">
                    <c:v>Estado (UF)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</c:v>
                </c:pt>
                <c:pt idx="1">
                  <c:v>16</c:v>
                </c:pt>
                <c:pt idx="2">
                  <c:v>24</c:v>
                </c:pt>
                <c:pt idx="3">
                  <c:v>30</c:v>
                </c:pt>
                <c:pt idx="4">
                  <c:v>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400" u="none">
                  <a:solidFill>
                    <a:srgbClr val="1E2B2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E2B2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Taxa 2024</c:v>
                </c:pt>
              </c:strCache>
            </c:strRef>
          </c:tx>
          <c:spPr>
            <a:solidFill>
              <a:srgbClr val="3E7A62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1E2B2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Risco crítico</c:v>
                  </c:pt>
                  <c:pt idx="1">
                    <c:v>Centros urbanos</c:v>
                  </c:pt>
                  <c:pt idx="2">
                    <c:v>Intermediário</c:v>
                  </c:pt>
                  <c:pt idx="3">
                    <c:v>Alto desempenho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46.5</c:v>
                </c:pt>
                <c:pt idx="1">
                  <c:v>53.2</c:v>
                </c:pt>
                <c:pt idx="2">
                  <c:v>65.4</c:v>
                </c:pt>
                <c:pt idx="3">
                  <c:v>79.4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600" u="none">
                  <a:solidFill>
                    <a:srgbClr val="1E2B2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E2B2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Brasil</c:v>
                </c:pt>
              </c:strCache>
            </c:strRef>
          </c:tx>
          <c:spPr>
            <a:solidFill>
              <a:srgbClr val="1F3A32"/>
            </a:solidFill>
            <a:ln w="38100" cap="flat">
              <a:solidFill>
                <a:srgbClr val="1F3A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1F3A32"/>
              </a:solidFill>
              <a:ln w="9525" cap="flat">
                <a:solidFill>
                  <a:srgbClr val="1F3A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2024</c:v>
                  </c:pt>
                  <c:pt idx="1">
                    <c:v>2025</c:v>
                  </c:pt>
                  <c:pt idx="2">
                    <c:v>2026</c:v>
                  </c:pt>
                  <c:pt idx="3">
                    <c:v>2027</c:v>
                  </c:pt>
                  <c:pt idx="4">
                    <c:v>2028</c:v>
                  </c:pt>
                  <c:pt idx="5">
                    <c:v>2029</c:v>
                  </c:pt>
                  <c:pt idx="6">
                    <c:v>2030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59.2</c:v>
                </c:pt>
                <c:pt idx="1">
                  <c:v>66</c:v>
                </c:pt>
                <c:pt idx="2">
                  <c:v>70.3</c:v>
                </c:pt>
                <c:pt idx="3">
                  <c:v>73.9</c:v>
                </c:pt>
                <c:pt idx="4">
                  <c:v>77</c:v>
                </c:pt>
                <c:pt idx="5">
                  <c:v>79.7</c:v>
                </c:pt>
                <c:pt idx="6">
                  <c:v>81.9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Meta pactuada</c:v>
                </c:pt>
              </c:strCache>
            </c:strRef>
          </c:tx>
          <c:spPr>
            <a:solidFill>
              <a:srgbClr val="F2B705"/>
            </a:solidFill>
            <a:ln w="38100" cap="flat">
              <a:solidFill>
                <a:srgbClr val="F2B70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F2B705"/>
              </a:solidFill>
              <a:ln w="9525" cap="flat">
                <a:solidFill>
                  <a:srgbClr val="F2B70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2024</c:v>
                  </c:pt>
                  <c:pt idx="1">
                    <c:v>2025</c:v>
                  </c:pt>
                  <c:pt idx="2">
                    <c:v>2026</c:v>
                  </c:pt>
                  <c:pt idx="3">
                    <c:v>2027</c:v>
                  </c:pt>
                  <c:pt idx="4">
                    <c:v>2028</c:v>
                  </c:pt>
                  <c:pt idx="5">
                    <c:v>2029</c:v>
                  </c:pt>
                  <c:pt idx="6">
                    <c:v>2030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59.9</c:v>
                </c:pt>
                <c:pt idx="1">
                  <c:v>64</c:v>
                </c:pt>
                <c:pt idx="2">
                  <c:v>67</c:v>
                </c:pt>
                <c:pt idx="3">
                  <c:v>71</c:v>
                </c:pt>
                <c:pt idx="4">
                  <c:v>74</c:v>
                </c:pt>
                <c:pt idx="5">
                  <c:v>77</c:v>
                </c:pt>
                <c:pt idx="6">
                  <c:v>80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E2B2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5"/>
          <c:min val="55"/>
        </c:scaling>
        <c:delete val="0"/>
        <c:axPos val="l"/>
        <c:majorGridlines>
          <c:spPr>
            <a:ln w="9525" cap="flat">
              <a:solidFill>
                <a:srgbClr val="E3E8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6B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1E2B2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0:00 a 0:25 (25 segundos)
Bom dia. Sou o Lucas Oliveira. Quero responder a pergunta de qualquer gestor de educação: quais municípios vão ficar para trás na alfabetização das crianças — e o que fazer antes que isso aconteça. Para isso, analisamos 5.396 municípios com dados públicos.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0:25 a 1:05 (40 segundos)
Começo pela boa notícia. O Brasil saiu de 55,9% das crianças alfabetizadas em 2023 para 66% em 2025 — acima da trajetória pactuada no Compromisso Nacional.
Só que essa média esconde um problema. Entre 2023 e 2024, 41,7% dos municípios pioraram. São 2.250 cidades andando para trás enquanto o número do país melhora.
Isso tem uma consequência direta para esta mesa: uma política desenhada olhando a média nacional não alcança justamente quem mais precisa.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1:05 a 1:40 (35 segundos)
Para enfrentar isso, construímos quatro instrumentos, todos a partir de dado público.
Primeiro, um modelo que prevê quais municípios vão ficar abaixo do patamar nacional — usando só informação do ano anterior. Segundo, uma classificação dos municípios em quatro perfis. Terceiro, uma projeção até 2030. E quarto, um sistema que aprende onde cada real de orçamento rende mais.
O ponto prático: assim que o INEP divulga um resultado, a lista do ano seguinte sai em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1:40 a 2:25 (45 segundos)
O modelo acerta bem: tem 90% de capacidade de separar os municípios que alfabetizam dos que não alfabetizam, medido em municípios que ele nunca viu no treino.
Testamos cinco algoritmos. Os mais sofisticados empataram com o mais simples, então ficamos com o simples — porque quando um prefeito perguntar por que a cidade dele está na lista, a resposta precisa ser explicável.
E o fator mais influente, de longe, é o estado. Pesa três vezes mais que o segundo colocado. A mesma criança tem chances muito diferentes dependendo de onde nasce.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2:25 a 3:10 (45 segundos)
A segunda descoberta derruba uma crença comum: dinheiro não explica alfabetização.
O grupo de melhor desempenho do país — 79% das crianças alfabetizadas — é formado por municípios pequenos do interior, a maioria no Nordeste, com PIB per capita de 20 mil reais.
E aqui estão 121 centros urbanos: renda quase o dobro, 96% dos adultos alfabetizados — e só 53% das crianças alfabetizadas, abaixo da média nacional.
Nessas cidades o problema não é o contexto social. É a rede de ensino.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3:10 a 3:50 (40 segundos)
Olhando para frente: projetamos o indicador até 2030, já considerando que os primeiros pontos percentuais são os mais fáceis e que o crescimento desacelera.
O Brasil chega a 81,9% em 2030 — acima da meta de 80%, mas por uma margem de menos de dois pontos. A meta é alcançável, só não está garantida.
E, município a município, só 45% chegam à meta no ritmo atual.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3:50 a 4:30 (40 segundos)
Como isso vira decisão? De três formas.
Priorizar: são 3.121 municípios abaixo do patamar, 1.411 em risco crítico, e cada um vem com a explicação individual do porquê.
Ajustar o programa: cada um dos quatro perfis responde melhor a um tipo de intervenção. Mandar o mesmo programa para todo mundo desperdiça dinheiro.
E alocar o orçamento: na simulação, o recurso se concentra sozinho nos municípios com taxa média de 42%, contra 63% no país. A priorização vira redistributiva sem ninguém precisar impor isso por regra.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4:30 a 5:00 (30 segundos)
Antes de fechar, duas honestidades. O modelo prioriza, não prediz destino: ele mostra onde o risco está concentrado hoje. E ele mostra associação, não causa.
Dito isso: com dado que já existe, público e gratuito, dá para saber com um ano de antecedência quais municípios vão ficar para trás. A pergunta que fica não é se a informação existe. É o que fazemos com ela. Obrigado.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 ·  FASE 3  ·  PÓS IA PARA DEVS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6949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0" b="1" dirty="0">
                <a:solidFill>
                  <a:srgbClr val="F7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vai ficar</a:t>
            </a:r>
            <a:endParaRPr lang="en-US" sz="5800" dirty="0"/>
          </a:p>
          <a:p>
            <a:pPr indent="0" marL="0">
              <a:buNone/>
            </a:pPr>
            <a:r>
              <a:rPr lang="en-US" sz="5800" b="1" dirty="0">
                <a:solidFill>
                  <a:srgbClr val="F7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trás?</a:t>
            </a:r>
            <a:endParaRPr lang="en-US" sz="5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862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Predição de risco educacional para a alfabetização infantil no Brasil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39496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Lucas Oliveira da Silva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FB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RM371958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001000" y="1325880"/>
            <a:ext cx="3566160" cy="356616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01000" y="224028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F3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5.396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8183880" y="324612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F3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municípios analisados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F3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dados do INEP e do IBGE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B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Brasil melhora. 4 em cada 10 municípios pioram.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0876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Crianças alfabetizadas ao fim do 2º ano — Brasil (%)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874520"/>
          <a:ext cx="60350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086600" y="1600200"/>
            <a:ext cx="4553712" cy="4389120"/>
          </a:xfrm>
          <a:prstGeom prst="roundRect">
            <a:avLst>
              <a:gd name="adj" fmla="val 2500"/>
            </a:avLst>
          </a:prstGeom>
          <a:solidFill>
            <a:srgbClr val="1F3A32"/>
          </a:solidFill>
          <a:ln w="12700">
            <a:solidFill>
              <a:srgbClr val="1F3A3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452360" y="18745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Enquanto isso, nos municípios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452360" y="2286000"/>
            <a:ext cx="3840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2B7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41,7%</a:t>
            </a:r>
            <a:endParaRPr lang="en-US" sz="7200" dirty="0"/>
          </a:p>
        </p:txBody>
      </p:sp>
      <p:sp>
        <p:nvSpPr>
          <p:cNvPr id="8" name="Text 5"/>
          <p:cNvSpPr txBox="1"/>
          <p:nvPr/>
        </p:nvSpPr>
        <p:spPr>
          <a:xfrm>
            <a:off x="7452360" y="35204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7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retrocederam entre 2023 e 2024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452360" y="4160520"/>
            <a:ext cx="3840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2.250 cidades andando para trás enquanto a média nacional sobe. O país avança porque os municípios grandes puxam o agregado.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054577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B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instrumentos a partir de dado público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691640"/>
            <a:ext cx="2587752" cy="3154680"/>
          </a:xfrm>
          <a:prstGeom prst="roundRect">
            <a:avLst>
              <a:gd name="adj" fmla="val 3534"/>
            </a:avLst>
          </a:prstGeom>
          <a:solidFill>
            <a:srgbClr val="E9F0ED"/>
          </a:solidFill>
          <a:ln w="12700">
            <a:solidFill>
              <a:srgbClr val="E9F0E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2011680"/>
            <a:ext cx="566928" cy="56692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3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88920"/>
            <a:ext cx="2039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Prever o risco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383280"/>
            <a:ext cx="203911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modelo aponta quais municípios ficarão abaixo do patamar nacional, com um ano de antecedência.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410712" y="1691640"/>
            <a:ext cx="2587752" cy="3154680"/>
          </a:xfrm>
          <a:prstGeom prst="roundRect">
            <a:avLst>
              <a:gd name="adj" fmla="val 3534"/>
            </a:avLst>
          </a:prstGeom>
          <a:solidFill>
            <a:srgbClr val="E9F0ED"/>
          </a:solidFill>
          <a:ln w="12700">
            <a:solidFill>
              <a:srgbClr val="E9F0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85032" y="2011680"/>
            <a:ext cx="566928" cy="56692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85032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3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685032" y="2788920"/>
            <a:ext cx="2039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Entender perfis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3685032" y="3383280"/>
            <a:ext cx="203911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municípios são agrupados em quatro perfis, porque risco não é tudo igual.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72784" y="1691640"/>
            <a:ext cx="2587752" cy="3154680"/>
          </a:xfrm>
          <a:prstGeom prst="roundRect">
            <a:avLst>
              <a:gd name="adj" fmla="val 3534"/>
            </a:avLst>
          </a:prstGeom>
          <a:solidFill>
            <a:srgbClr val="E9F0ED"/>
          </a:solidFill>
          <a:ln w="12700">
            <a:solidFill>
              <a:srgbClr val="E9F0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47104" y="2011680"/>
            <a:ext cx="566928" cy="56692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47104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3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547104" y="2788920"/>
            <a:ext cx="2039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Projetar 2030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6547104" y="3383280"/>
            <a:ext cx="203911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projeção mostra quem chega à meta de 80% no ritmo atual e quem não chega.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134856" y="1691640"/>
            <a:ext cx="2587752" cy="3154680"/>
          </a:xfrm>
          <a:prstGeom prst="roundRect">
            <a:avLst>
              <a:gd name="adj" fmla="val 3534"/>
            </a:avLst>
          </a:prstGeom>
          <a:solidFill>
            <a:srgbClr val="E9F0ED"/>
          </a:solidFill>
          <a:ln w="12700">
            <a:solidFill>
              <a:srgbClr val="E9F0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409176" y="2011680"/>
            <a:ext cx="566928" cy="56692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409176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3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9409176" y="2788920"/>
            <a:ext cx="2039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Alocar recursos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9409176" y="3383280"/>
            <a:ext cx="203911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sistema aprende qual intervenção rende mais em cada perfil de município.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2578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Base: </a:t>
            </a:r>
            <a:pPr indent="0" marL="0">
              <a:buNone/>
            </a:pPr>
            <a:r>
              <a:rPr lang="en-US" sz="14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 Criança Alfabetizada (INEP) + Censo 2022 e PIB municipal (IBGE). Pipeline reproduzível, sem nenhum dado pago.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54577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8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B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estado onde a criança nasce pesa mais que tudo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1F3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0,90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9748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capacidade de separar municípios que alfabetizam dos que não alfabetizam (ROC AUC, em dados nunca vistos)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8862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3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80060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algoritmos testados. Escolhemos o mais simples: mesma precisão e explicável para o gestor.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937760" y="160020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Influência de cada fator na previsão (estado = 100)</a:t>
            </a:r>
            <a:endParaRPr lang="en-US" sz="14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937760" y="1965960"/>
          <a:ext cx="66751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1054577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8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B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Dinheiro não explica alfabetização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0876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Crianças alfabetizadas em 2024, por perfil de município (%)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874520"/>
          <a:ext cx="576072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720840" y="1600200"/>
            <a:ext cx="4919472" cy="1965960"/>
          </a:xfrm>
          <a:prstGeom prst="roundRect">
            <a:avLst>
              <a:gd name="adj" fmla="val 4651"/>
            </a:avLst>
          </a:prstGeom>
          <a:solidFill>
            <a:srgbClr val="E9F0ED"/>
          </a:solidFill>
          <a:ln w="12700">
            <a:solidFill>
              <a:srgbClr val="E9F0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040880" y="180136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Interior de alto desempenho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040880" y="219456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PIB per capita de R$ 20 mil, maioria no Nordeste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9418320" y="21031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3E7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79%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9144000" y="295351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crianças alfabetizadas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720840" y="3749040"/>
            <a:ext cx="4919472" cy="1965960"/>
          </a:xfrm>
          <a:prstGeom prst="roundRect">
            <a:avLst>
              <a:gd name="adj" fmla="val 4651"/>
            </a:avLst>
          </a:prstGeom>
          <a:solidFill>
            <a:srgbClr val="E9F0ED"/>
          </a:solidFill>
          <a:ln w="12700">
            <a:solidFill>
              <a:srgbClr val="E9F0E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040880" y="395020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121 centros urbanos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7040880" y="434340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PIB de R$ 38 mil e 96% dos adultos alfabetizados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0" y="42519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4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53%</a:t>
            </a:r>
            <a:endParaRPr lang="en-US" sz="44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0" y="510235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crianças alfabetizadas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720840" y="5806440"/>
            <a:ext cx="4919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1F3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grandes cidades, o gargalo é a rede, não o contexto.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054577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B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meta de 2030 é alcançável, mas não está garantida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Brasil: observado em 2024–2025 e projeção até 2030 (%)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874520"/>
          <a:ext cx="676656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818120" y="169164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84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45%</a:t>
            </a:r>
            <a:endParaRPr lang="en-US" sz="7200" dirty="0"/>
          </a:p>
        </p:txBody>
      </p:sp>
      <p:sp>
        <p:nvSpPr>
          <p:cNvPr id="6" name="Text 3"/>
          <p:cNvSpPr txBox="1"/>
          <p:nvPr/>
        </p:nvSpPr>
        <p:spPr>
          <a:xfrm>
            <a:off x="7818120" y="288036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municípios chegam à meta de 2030 no ritmo atual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818120" y="3931920"/>
            <a:ext cx="3840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país fecha 2030 em 81,9%, só 1,9 ponto acima da meta de 80%.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Qualquer desaceleração do ritmo atual coloca a meta nacional em risco.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054577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B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isso vira decisão de gestão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3511296" cy="3977640"/>
          </a:xfrm>
          <a:prstGeom prst="roundRect">
            <a:avLst>
              <a:gd name="adj" fmla="val 2604"/>
            </a:avLst>
          </a:prstGeom>
          <a:solidFill>
            <a:srgbClr val="E9F0ED"/>
          </a:solidFill>
          <a:ln w="12700">
            <a:solidFill>
              <a:srgbClr val="E9F0E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1965960"/>
            <a:ext cx="566928" cy="56692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3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9659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Priorizar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834640"/>
            <a:ext cx="28712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3E7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3.121</a:t>
            </a:r>
            <a:endParaRPr lang="en-US" sz="56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023360"/>
            <a:ext cx="287121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municípios abaixo do patamar nacional, 1.411 em risco crítico — cada um com a explicação do porquê.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34256" y="1645920"/>
            <a:ext cx="3511296" cy="3977640"/>
          </a:xfrm>
          <a:prstGeom prst="roundRect">
            <a:avLst>
              <a:gd name="adj" fmla="val 2604"/>
            </a:avLst>
          </a:prstGeom>
          <a:solidFill>
            <a:srgbClr val="E9F0ED"/>
          </a:solidFill>
          <a:ln w="12700">
            <a:solidFill>
              <a:srgbClr val="E9F0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54296" y="1965960"/>
            <a:ext cx="566928" cy="56692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54296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3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385816" y="19659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Personalizar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4654296" y="2834640"/>
            <a:ext cx="28712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3E7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5600" dirty="0"/>
          </a:p>
        </p:txBody>
      </p:sp>
      <p:sp>
        <p:nvSpPr>
          <p:cNvPr id="14" name="Text 12"/>
          <p:cNvSpPr txBox="1"/>
          <p:nvPr/>
        </p:nvSpPr>
        <p:spPr>
          <a:xfrm>
            <a:off x="4654296" y="4023360"/>
            <a:ext cx="287121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perfis de município, cada um respondendo melhor a uma intervenção diferente. Mesmo programa para todos desperdiça orçamento.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119872" y="1645920"/>
            <a:ext cx="3511296" cy="3977640"/>
          </a:xfrm>
          <a:prstGeom prst="roundRect">
            <a:avLst>
              <a:gd name="adj" fmla="val 2604"/>
            </a:avLst>
          </a:prstGeom>
          <a:solidFill>
            <a:srgbClr val="E9F0ED"/>
          </a:solidFill>
          <a:ln w="12700">
            <a:solidFill>
              <a:srgbClr val="E9F0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9912" y="1965960"/>
            <a:ext cx="566928" cy="56692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39912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3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9171432" y="19659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Alocar verba</a:t>
            </a:r>
            <a:endParaRPr lang="en-US" sz="2100" dirty="0"/>
          </a:p>
        </p:txBody>
      </p:sp>
      <p:sp>
        <p:nvSpPr>
          <p:cNvPr id="19" name="Text 17"/>
          <p:cNvSpPr txBox="1"/>
          <p:nvPr/>
        </p:nvSpPr>
        <p:spPr>
          <a:xfrm>
            <a:off x="8439912" y="2834640"/>
            <a:ext cx="28712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3E7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42%</a:t>
            </a:r>
            <a:endParaRPr lang="en-US" sz="5600" dirty="0"/>
          </a:p>
        </p:txBody>
      </p:sp>
      <p:sp>
        <p:nvSpPr>
          <p:cNvPr id="20" name="Text 18"/>
          <p:cNvSpPr txBox="1"/>
          <p:nvPr/>
        </p:nvSpPr>
        <p:spPr>
          <a:xfrm>
            <a:off x="8439912" y="4023360"/>
            <a:ext cx="287121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taxa média dos 1.200 municípios que o orçamento simulado alcança, contra 63% no país.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054577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3A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68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7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informação para agir antes já existe.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B7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 é o que fazemos com ela.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324612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2E5446"/>
          </a:solidFill>
          <a:ln w="12700">
            <a:solidFill>
              <a:srgbClr val="2E544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347472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7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Prioriza, não prediz destino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93192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Aponta onde o risco está concentrado no Brasil de hoje. Não extrapola para realidades que não viu.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17920" y="324612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2E5446"/>
          </a:solidFill>
          <a:ln w="12700">
            <a:solidFill>
              <a:srgbClr val="2E544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37960" y="347472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7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Mostra associação, não causa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393192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padrões são reais nos dados; provar causa exige outro desenho de pesquisa.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406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Lucas Oliveira da Silva  ·  RM371958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9FB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github.com/Luodev/1IAST-Fase3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54577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Quem vai ficar para trás? — Tech Challenge Fase 3</dc:title>
  <dc:subject>PptxGenJS Presentation</dc:subject>
  <dc:creator>Lucas Oliveira da Silva</dc:creator>
  <cp:lastModifiedBy>Lucas Oliveira da Silva</cp:lastModifiedBy>
  <cp:revision>1</cp:revision>
  <dcterms:created xsi:type="dcterms:W3CDTF">2026-09-13T23:12:04Z</dcterms:created>
  <dcterms:modified xsi:type="dcterms:W3CDTF">2026-09-13T23:12:04Z</dcterms:modified>
</cp:coreProperties>
</file>
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3E7A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800" u="none">
                    <a:solidFill>
                      <a:srgbClr val="1E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55.9</c:v>
                </c:pt>
                <c:pt idx="1">
                  <c:v>59.2</c:v>
                </c:pt>
                <c:pt idx="2">
                  <c:v>66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800" u="none">
                  <a:solidFill>
                    <a:srgbClr val="1E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1E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5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Treino</c:v>
                </c:pt>
              </c:strCache>
            </c:strRef>
          </c:tx>
          <c:spPr>
            <a:solidFill>
              <a:srgbClr val="C3CEC9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Extra Trees</c:v>
                  </c:pt>
                  <c:pt idx="2">
                    <c:v>Gradient Boosting</c:v>
                  </c:pt>
                  <c:pt idx="3">
                    <c:v>Reg. Logística</c:v>
                  </c:pt>
                  <c:pt idx="4">
                    <c:v>Árvore de Decisão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0.976</c:v>
                </c:pt>
                <c:pt idx="1">
                  <c:v>0.95</c:v>
                </c:pt>
                <c:pt idx="2">
                  <c:v>0.968</c:v>
                </c:pt>
                <c:pt idx="3">
                  <c:v>0.907</c:v>
                </c:pt>
                <c:pt idx="4">
                  <c:v>0.908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Validação</c:v>
                </c:pt>
              </c:strCache>
            </c:strRef>
          </c:tx>
          <c:spPr>
            <a:solidFill>
              <a:srgbClr val="3E7A62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E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Random Forest</c:v>
                  </c:pt>
                  <c:pt idx="1">
                    <c:v>Extra Trees</c:v>
                  </c:pt>
                  <c:pt idx="2">
                    <c:v>Gradient Boosting</c:v>
                  </c:pt>
                  <c:pt idx="3">
                    <c:v>Reg. Logística</c:v>
                  </c:pt>
                  <c:pt idx="4">
                    <c:v>Árvore de Decisão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0.903</c:v>
                </c:pt>
                <c:pt idx="1">
                  <c:v>0.903</c:v>
                </c:pt>
                <c:pt idx="2">
                  <c:v>0.901</c:v>
                </c:pt>
                <c:pt idx="3">
                  <c:v>0.901</c:v>
                </c:pt>
                <c:pt idx="4">
                  <c:v>0.88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1E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"/>
        </c:scaling>
        <c:delete val="0"/>
        <c:axPos val="l"/>
        <c:majorGridlines>
          <c:spPr>
            <a:ln w="9525" cap="flat">
              <a:solidFill>
                <a:srgbClr val="E3E8E6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0.05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200">
              <a:solidFill>
                <a:srgbClr val="1E2B2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Influência</c:v>
                </c:pt>
              </c:strCache>
            </c:strRef>
          </c:tx>
          <c:spPr>
            <a:solidFill>
              <a:srgbClr val="3E7A6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E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Distância para a meta de 2025</c:v>
                  </c:pt>
                  <c:pt idx="1">
                    <c:v>Região do país</c:v>
                  </c:pt>
                  <c:pt idx="2">
                    <c:v>Posição do município na UF</c:v>
                  </c:pt>
                  <c:pt idx="3">
                    <c:v>Proficiência em Português (2023)</c:v>
                  </c:pt>
                  <c:pt idx="4">
                    <c:v>Estado (UF)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</c:v>
                </c:pt>
                <c:pt idx="1">
                  <c:v>16</c:v>
                </c:pt>
                <c:pt idx="2">
                  <c:v>24</c:v>
                </c:pt>
                <c:pt idx="3">
                  <c:v>30</c:v>
                </c:pt>
                <c:pt idx="4">
                  <c:v>100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400" u="none">
                  <a:solidFill>
                    <a:srgbClr val="1E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E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5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Taxa 2024</c:v>
                </c:pt>
              </c:strCache>
            </c:strRef>
          </c:tx>
          <c:spPr>
            <a:solidFill>
              <a:srgbClr val="3E7A62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1E2B2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Risco crítico</c:v>
                  </c:pt>
                  <c:pt idx="1">
                    <c:v>Centros urbanos</c:v>
                  </c:pt>
                  <c:pt idx="2">
                    <c:v>Intermediário</c:v>
                  </c:pt>
                  <c:pt idx="3">
                    <c:v>Alto desempenho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46.5</c:v>
                </c:pt>
                <c:pt idx="1">
                  <c:v>53.2</c:v>
                </c:pt>
                <c:pt idx="2">
                  <c:v>65.4</c:v>
                </c:pt>
                <c:pt idx="3">
                  <c:v>79.4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1" i="0" strike="noStrike" sz="1600" u="none">
                  <a:solidFill>
                    <a:srgbClr val="1E2B2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Brasil</c:v>
                </c:pt>
              </c:strCache>
            </c:strRef>
          </c:tx>
          <c:spPr>
            <a:solidFill>
              <a:srgbClr val="1F3A32"/>
            </a:solidFill>
            <a:ln w="38100" cap="flat">
              <a:solidFill>
                <a:srgbClr val="1F3A3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1F3A32"/>
              </a:solidFill>
              <a:ln w="9525" cap="flat">
                <a:solidFill>
                  <a:srgbClr val="1F3A3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59.2</c:v>
                </c:pt>
                <c:pt idx="1">
                  <c:v>66</c:v>
                </c:pt>
                <c:pt idx="2">
                  <c:v>70.3</c:v>
                </c:pt>
                <c:pt idx="3">
                  <c:v>73.9</c:v>
                </c:pt>
                <c:pt idx="4">
                  <c:v>77</c:v>
                </c:pt>
                <c:pt idx="5">
                  <c:v>79.7</c:v>
                </c:pt>
                <c:pt idx="6">
                  <c:v>81.9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Meta pactuada</c:v>
                </c:pt>
              </c:strCache>
            </c:strRef>
          </c:tx>
          <c:spPr>
            <a:solidFill>
              <a:srgbClr val="F2B705"/>
            </a:solidFill>
            <a:ln w="38100" cap="flat">
              <a:solidFill>
                <a:srgbClr val="F2B70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F2B705"/>
              </a:solidFill>
              <a:ln w="9525" cap="flat">
                <a:solidFill>
                  <a:srgbClr val="F2B70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</c:v>
                  </c:pt>
                  <c:pt idx="3">
                    <c:v>2027</c:v>
                  </c:pt>
                  <c:pt idx="4">
                    <c:v>2028</c:v>
                  </c:pt>
                  <c:pt idx="5">
                    <c:v>2029</c:v>
                  </c:pt>
                  <c:pt idx="6">
                    <c:v>2030</c:v>
                  </c:pt>
                </c:lvl>
              </c:multiLvlStrCache>
            </c:multiLvl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59.9</c:v>
                </c:pt>
                <c:pt idx="1">
                  <c:v>64</c:v>
                </c:pt>
                <c:pt idx="2">
                  <c:v>67</c:v>
                </c:pt>
                <c:pt idx="3">
                  <c:v>71</c:v>
                </c:pt>
                <c:pt idx="4">
                  <c:v>74</c:v>
                </c:pt>
                <c:pt idx="5">
                  <c:v>77</c:v>
                </c:pt>
                <c:pt idx="6">
                  <c:v>80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1E2B27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5"/>
          <c:min val="55"/>
        </c:scaling>
        <c:delete val="0"/>
        <c:axPos val="l"/>
        <c:majorGridlines>
          <c:spPr>
            <a:ln w="9525" cap="flat">
              <a:solidFill>
                <a:srgbClr val="E3E8E6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B6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
              <a:solidFill>
                <a:srgbClr val="1E2B27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0:00 a 0:15 (15 segundos)
Bom dia. Sou o Lucas Oliveira. Vou mostrar como prever quais municípios vão ficar para trás na alfabetização das crianças — e o que fazer antes que isso aconteça.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0:15 a 0:45 (30 segundos)
Primeiro, o contexto. O Brasil saiu de 55,9% das crianças alfabetizadas em 2023 para 66% em 2025. Mas a média esconde o problema: entre 2023 e 2024, 41,7% dos municípios pioraram. Uma política desenhada sobre a média nacional não alcança quem mais precisa.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0:45 a 1:25 (40 segundos)
De onde vêm os dados. A base é a camada Gold que construímos na Fase 2, com o Indicador Criança Alfabetizada do INEP: resultados e metas por município, estado e Brasil. Enriquecemos com o IBGE — população, renda e alfabetização dos adultos, do Censo 2022. O resultado é uma base com 5.396 municípios e 20 variáveis. O alvo é saber se o município alfabetiza pelo menos 60% das crianças em 2024, usando só informação de 2023 — assim o modelo nunca vê a resposta.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1:25 a 2:05 (40 segundos)
Com essa base, aplicamos quatro técnicas, cada uma respondendo uma pergunta. O modelo supervisionado prevê quem fica abaixo do patamar, com 90% de capacidade de separação. A clusterização encontrou quatro perfis de município. A projeção de séries temporais mostra que só 45% chegam à meta de 2030. E o aprendizado por reforço acertou a melhor intervenção em 96,8% das decisões.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2:05 a 2:45 (40 segundos)
No modelo supervisionado, comparamos cinco algoritmos. Repare que os mais complexos, como o Random Forest, vão muito bem no treino mas caem na validação: decoraram os dados. A Regressão Logística teve praticamente a mesma nota na validação, com doze vezes menos overfitting. No teste, com municípios que o modelo nunca viu, ela chegou a 0,90 de AUC, 84% de F1 e probabilidades calibradas.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2:45 a 3:10 (25 segundos)
E o que o modelo aprendeu? O fator mais influente, de longe, é o estado: pesa três vezes mais que o segundo, a proficiência em Português do ano anterior. A mesma criança tem chances muito diferentes dependendo de onde nasce.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3:10 a 3:40 (30 segundos)
A clusterização trouxe a descoberta mais surpreendente: dinheiro não explica alfabetização. O melhor grupo, com 79% de crianças alfabetizadas, é de municípios pequenos e de baixa renda, a maioria no Nordeste. Já 121 centros urbanos, ricos e com adultos escolarizados, alfabetizam só 53%. Ali o gargalo é a rede de ensino.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3:40 a 4:05 (25 segundos)
Olhando para 2030: o Brasil deve chegar a 81,9%, menos de dois pontos acima da meta de 80%. A meta é alcançável, mas não está garantida — e só 45% dos municípios chegam lá no ritmo atual.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4:05 a 4:35 (30 segundos)
Isso vira decisão de três formas. Priorizar os 3.121 municípios abaixo do patamar, cada um com a explicação do porquê. Personalizar o programa conforme o perfil. E alocar a verba: na simulação, o recurso vai para municípios com taxa média de 42%, contra 63% no país.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TEMPO: 4:35 a 5:00 (25 segundos)
Duas ressalvas: o modelo prioriza, não prediz destino, e mostra associação, não causa. Mas a informação para agir com um ano de antecedência já existe. A pergunta é o que fazemos com ela. Obrigado.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CHALLENGE  ·  FASE 3  ·  PÓS IA PARA DEVS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9494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800" b="1" dirty="0">
                <a:solidFill>
                  <a:srgbClr val="F7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vai ficar</a:t>
            </a:r>
            <a:endParaRPr lang="en-US" sz="5800" dirty="0"/>
          </a:p>
          <a:p>
            <a:pPr indent="0" marL="0">
              <a:buNone/>
            </a:pPr>
            <a:r>
              <a:rPr lang="en-US" sz="5800" b="1" dirty="0">
                <a:solidFill>
                  <a:srgbClr val="F7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trás?</a:t>
            </a:r>
            <a:endParaRPr lang="en-US" sz="5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86200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Predição de risco educacional para a alfabetização infantil no Brasil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3949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Oliveira da Silva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RM371958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01000" y="1325880"/>
            <a:ext cx="3566160" cy="3566160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001000" y="2240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5.396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8183880" y="32461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analisados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dados do INEP e do IBGE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Brasil melhora. 4 em cada 10 municípios pioram.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alfabetizadas ao fim do 2º ano — Brasil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0350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086600" y="1600200"/>
            <a:ext cx="4553712" cy="4389120"/>
          </a:xfrm>
          <a:prstGeom prst="roundRect">
            <a:avLst>
              <a:gd name="adj" fmla="val 2500"/>
            </a:avLst>
          </a:prstGeom>
          <a:solidFill>
            <a:srgbClr val="1F3A32"/>
          </a:solidFill>
          <a:ln w="12700">
            <a:solidFill>
              <a:srgbClr val="1F3A3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6" name="Text 3"/>
          <p:cNvSpPr txBox="1"/>
          <p:nvPr/>
        </p:nvSpPr>
        <p:spPr>
          <a:xfrm>
            <a:off x="745236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Enquanto isso, nos municípios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7452360" y="2286000"/>
            <a:ext cx="38404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41,7%</a:t>
            </a:r>
            <a:endParaRPr lang="en-US" sz="7200" dirty="0"/>
          </a:p>
        </p:txBody>
      </p:sp>
      <p:sp>
        <p:nvSpPr>
          <p:cNvPr id="8" name="Text 5"/>
          <p:cNvSpPr txBox="1"/>
          <p:nvPr/>
        </p:nvSpPr>
        <p:spPr>
          <a:xfrm>
            <a:off x="7452360" y="352044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retrocederam entre 2023 e 2024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7452360" y="4160520"/>
            <a:ext cx="38404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São 2.250 cidades andando para trás enquanto a média nacional sobe. O país avança porque os municípios grandes puxam o agregado.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base: dados públicos do INEP e do IBGE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3271418" cy="2788920"/>
          </a:xfrm>
          <a:prstGeom prst="roundRect">
            <a:avLst>
              <a:gd name="adj" fmla="val 3279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22960" y="180136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1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07568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Camada Gold — Fase 2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2587752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 Criança Alfabetizada (INEP): taxas e metas até 2030, por município, UF e Brasil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474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tabelas</a:t>
            </a:r>
            <a:endParaRPr lang="en-US" sz="3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99592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23.995 registros municipais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948074" y="2811780"/>
            <a:ext cx="384048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60138" y="1600200"/>
            <a:ext cx="3271418" cy="2788920"/>
          </a:xfrm>
          <a:prstGeom prst="roundRect">
            <a:avLst>
              <a:gd name="adj" fmla="val 3279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34458" y="180136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E7A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FONTE 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4734458" y="207568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Enriquecimento IBGE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734458" y="2587752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População, densidade, PIB per capita e alfabetização dos adultos (Censo 2022)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734458" y="3474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fontes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4734458" y="399592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5.571 municípios cobertos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859573" y="2811780"/>
            <a:ext cx="384048" cy="365760"/>
          </a:xfrm>
          <a:prstGeom prst="rightArrow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371637" y="1600200"/>
            <a:ext cx="3271418" cy="2788920"/>
          </a:xfrm>
          <a:prstGeom prst="roundRect">
            <a:avLst>
              <a:gd name="adj" fmla="val 3279"/>
            </a:avLst>
          </a:prstGeom>
          <a:solidFill>
            <a:srgbClr val="1F3A32"/>
          </a:solidFill>
          <a:ln w="12700">
            <a:solidFill>
              <a:srgbClr val="1F3A32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645957" y="180136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2B7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645957" y="2075688"/>
            <a:ext cx="272277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7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analítica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8645957" y="2587752"/>
            <a:ext cx="272277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linha por município: o histórico de 2023 prevê o resultado de 2024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8645957" y="3474720"/>
            <a:ext cx="272277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5.396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8645957" y="3995928"/>
            <a:ext cx="272277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× 20 variáveis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48640" y="466344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486460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modelo prevê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822960" y="52669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município alfabetiza pelo menos 60% das crianças em 2024 — o patamar nacional. Classes equilibradas: 57% sim, 43% não.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233008" y="4663440"/>
            <a:ext cx="5410048" cy="1280160"/>
          </a:xfrm>
          <a:prstGeom prst="roundRect">
            <a:avLst>
              <a:gd name="adj" fmla="val 7143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07328" y="4864608"/>
            <a:ext cx="486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vazamento de dados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507328" y="5266944"/>
            <a:ext cx="486140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Nenhuma medida da prova de 2024 entra como variável. Treino com 4.316 municípios e teste com 1.080 nunca vistos.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técnicas, quatro respostas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87452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229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554480" y="187452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vai ficar abaixo do patamar?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calibrada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72688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0,90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3489808" y="3264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em dados novos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33008" y="160020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507328" y="187452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07328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7238848" y="187452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supervisionado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6507328" y="26243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Quais municípios são parecidos?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507328" y="310896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KMeans com PCA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357055" y="251460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8" name="Text 16"/>
          <p:cNvSpPr txBox="1"/>
          <p:nvPr/>
        </p:nvSpPr>
        <p:spPr>
          <a:xfrm>
            <a:off x="9174175" y="32644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município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402336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22960" y="429768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22960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1554480" y="429768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Séries temporais</a:t>
            </a:r>
            <a:endParaRPr lang="en-US" sz="2000" dirty="0"/>
          </a:p>
        </p:txBody>
      </p:sp>
      <p:sp>
        <p:nvSpPr>
          <p:cNvPr id="23" name="Text 21"/>
          <p:cNvSpPr txBox="1"/>
          <p:nvPr/>
        </p:nvSpPr>
        <p:spPr>
          <a:xfrm>
            <a:off x="822960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chega à meta de 2030?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532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Tendência com amortecimento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3672688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4000" dirty="0"/>
          </a:p>
        </p:txBody>
      </p:sp>
      <p:sp>
        <p:nvSpPr>
          <p:cNvPr id="26" name="Text 24"/>
          <p:cNvSpPr txBox="1"/>
          <p:nvPr/>
        </p:nvSpPr>
        <p:spPr>
          <a:xfrm>
            <a:off x="3489808" y="5687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municípios chegam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33008" y="4023360"/>
            <a:ext cx="5410048" cy="2148840"/>
          </a:xfrm>
          <a:prstGeom prst="roundRect">
            <a:avLst>
              <a:gd name="adj" fmla="val 4255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507328" y="429768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507328" y="42976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700" dirty="0"/>
          </a:p>
        </p:txBody>
      </p:sp>
      <p:sp>
        <p:nvSpPr>
          <p:cNvPr id="30" name="Text 28"/>
          <p:cNvSpPr txBox="1"/>
          <p:nvPr/>
        </p:nvSpPr>
        <p:spPr>
          <a:xfrm>
            <a:off x="7238848" y="4297680"/>
            <a:ext cx="41298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Aprendizado por reforço</a:t>
            </a:r>
            <a:endParaRPr lang="en-US" sz="2000" dirty="0"/>
          </a:p>
        </p:txBody>
      </p:sp>
      <p:sp>
        <p:nvSpPr>
          <p:cNvPr id="31" name="Text 29"/>
          <p:cNvSpPr txBox="1"/>
          <p:nvPr/>
        </p:nvSpPr>
        <p:spPr>
          <a:xfrm>
            <a:off x="6507328" y="50474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verba rende mais?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6507328" y="553212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Bandit contextual (UCB)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357055" y="4937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0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96,8%</a:t>
            </a:r>
            <a:endParaRPr lang="en-US" sz="4000" dirty="0"/>
          </a:p>
        </p:txBody>
      </p:sp>
      <p:sp>
        <p:nvSpPr>
          <p:cNvPr id="34" name="Text 32"/>
          <p:cNvSpPr txBox="1"/>
          <p:nvPr/>
        </p:nvSpPr>
        <p:spPr>
          <a:xfrm>
            <a:off x="9174175" y="568756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escolhas ótimas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Supervisionado: 5 algoritmos, 1 escolhido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no treino x validação cruzada — a diferença é o overfitting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49224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360920" y="1508760"/>
            <a:ext cx="4282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Regressão Logística no conjunto de teste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7360920" y="1920240"/>
            <a:ext cx="2003908" cy="1325880"/>
          </a:xfrm>
          <a:prstGeom prst="roundRect">
            <a:avLst>
              <a:gd name="adj" fmla="val 6897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589520" y="2103120"/>
            <a:ext cx="15467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0,90</a:t>
            </a:r>
            <a:endParaRPr lang="en-US" sz="3200" dirty="0"/>
          </a:p>
        </p:txBody>
      </p:sp>
      <p:sp>
        <p:nvSpPr>
          <p:cNvPr id="8" name="Text 5"/>
          <p:cNvSpPr txBox="1"/>
          <p:nvPr/>
        </p:nvSpPr>
        <p:spPr>
          <a:xfrm>
            <a:off x="7589520" y="2724912"/>
            <a:ext cx="1546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639148" y="1920240"/>
            <a:ext cx="2003908" cy="1325880"/>
          </a:xfrm>
          <a:prstGeom prst="roundRect">
            <a:avLst>
              <a:gd name="adj" fmla="val 6897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9867748" y="2103120"/>
            <a:ext cx="15467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0,84</a:t>
            </a:r>
            <a:endParaRPr lang="en-US" sz="3200" dirty="0"/>
          </a:p>
        </p:txBody>
      </p:sp>
      <p:sp>
        <p:nvSpPr>
          <p:cNvPr id="11" name="Text 8"/>
          <p:cNvSpPr txBox="1"/>
          <p:nvPr/>
        </p:nvSpPr>
        <p:spPr>
          <a:xfrm>
            <a:off x="9867748" y="2724912"/>
            <a:ext cx="1546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360920" y="3520440"/>
            <a:ext cx="2003908" cy="1325880"/>
          </a:xfrm>
          <a:prstGeom prst="roundRect">
            <a:avLst>
              <a:gd name="adj" fmla="val 6897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589520" y="3703320"/>
            <a:ext cx="15467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0,82</a:t>
            </a:r>
            <a:endParaRPr lang="en-US" sz="3200" dirty="0"/>
          </a:p>
        </p:txBody>
      </p:sp>
      <p:sp>
        <p:nvSpPr>
          <p:cNvPr id="14" name="Text 11"/>
          <p:cNvSpPr txBox="1"/>
          <p:nvPr/>
        </p:nvSpPr>
        <p:spPr>
          <a:xfrm>
            <a:off x="7589520" y="4325112"/>
            <a:ext cx="1546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Acurácia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9639148" y="3520440"/>
            <a:ext cx="2003908" cy="1325880"/>
          </a:xfrm>
          <a:prstGeom prst="roundRect">
            <a:avLst>
              <a:gd name="adj" fmla="val 6897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9867748" y="3703320"/>
            <a:ext cx="15467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0,125</a:t>
            </a:r>
            <a:endParaRPr lang="en-US" sz="3200" dirty="0"/>
          </a:p>
        </p:txBody>
      </p:sp>
      <p:sp>
        <p:nvSpPr>
          <p:cNvPr id="17" name="Text 14"/>
          <p:cNvSpPr txBox="1"/>
          <p:nvPr/>
        </p:nvSpPr>
        <p:spPr>
          <a:xfrm>
            <a:off x="9867748" y="4325112"/>
            <a:ext cx="15467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Brier — erro da probabilidade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7360920" y="5166360"/>
            <a:ext cx="42821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Regressão Logística? </a:t>
            </a:r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Mesma nota na validação que os modelos complexos, com 12 vezes menos overfitting — e explicável para o gestor.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estado onde a criança nasce pesa mais que tudo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3x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o peso do estado em relação ao segundo fator mais influente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3886200"/>
            <a:ext cx="3840480" cy="1691640"/>
          </a:xfrm>
          <a:prstGeom prst="roundRect">
            <a:avLst>
              <a:gd name="adj" fmla="val 5405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690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medimos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48056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Importância por permutação e SHAP: quanto a previsão piora quando cada variável é embaralhada.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937760" y="1600200"/>
            <a:ext cx="6675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Influência de cada fator na previsão (estado = 100)</a:t>
            </a:r>
            <a:endParaRPr lang="en-US" sz="14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4937760" y="1965960"/>
          <a:ext cx="667512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Dinheiro não explica alfabetização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alfabetizadas em 2024, por perfil de município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576072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720840" y="1600200"/>
            <a:ext cx="4919472" cy="1965960"/>
          </a:xfrm>
          <a:prstGeom prst="roundRect">
            <a:avLst>
              <a:gd name="adj" fmla="val 4651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040880" y="180136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Interior de alto desempenho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040880" y="219456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per capita de R$ 20 mil, maioria no Nordeste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9418320" y="210312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79%</a:t>
            </a:r>
            <a:endParaRPr lang="en-US" sz="4400" dirty="0"/>
          </a:p>
        </p:txBody>
      </p:sp>
      <p:sp>
        <p:nvSpPr>
          <p:cNvPr id="9" name="Text 6"/>
          <p:cNvSpPr txBox="1"/>
          <p:nvPr/>
        </p:nvSpPr>
        <p:spPr>
          <a:xfrm>
            <a:off x="9144000" y="295351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crianças alfabetizadas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720840" y="3749040"/>
            <a:ext cx="4919472" cy="1965960"/>
          </a:xfrm>
          <a:prstGeom prst="roundRect">
            <a:avLst>
              <a:gd name="adj" fmla="val 4651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040880" y="395020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121 centros urbanos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7040880" y="4343400"/>
            <a:ext cx="2377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PIB de R$ 38 mil e 96% dos adultos alfabetizados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9418320" y="4251960"/>
            <a:ext cx="2011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4400" b="1" dirty="0">
                <a:solidFill>
                  <a:srgbClr val="C84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53%</a:t>
            </a:r>
            <a:endParaRPr lang="en-US" sz="4400" dirty="0"/>
          </a:p>
        </p:txBody>
      </p:sp>
      <p:sp>
        <p:nvSpPr>
          <p:cNvPr id="14" name="Text 11"/>
          <p:cNvSpPr txBox="1"/>
          <p:nvPr/>
        </p:nvSpPr>
        <p:spPr>
          <a:xfrm>
            <a:off x="9144000" y="5102352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 crianças alfabetizadas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720840" y="5806440"/>
            <a:ext cx="49194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 grandes cidades, o gargalo é a rede, não o contexto.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meta de 2030 é alcançável, mas não está garantida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Brasil: observado em 2024–2025 e projeção até 2030 (%)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874520"/>
          <a:ext cx="6766560" cy="4160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818120" y="1691640"/>
            <a:ext cx="3840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C842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45%</a:t>
            </a:r>
            <a:endParaRPr lang="en-US" sz="7200" dirty="0"/>
          </a:p>
        </p:txBody>
      </p:sp>
      <p:sp>
        <p:nvSpPr>
          <p:cNvPr id="6" name="Text 3"/>
          <p:cNvSpPr txBox="1"/>
          <p:nvPr/>
        </p:nvSpPr>
        <p:spPr>
          <a:xfrm>
            <a:off x="7818120" y="2880360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municípios chegam à meta de 2030 no ritmo atual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7818120" y="3931920"/>
            <a:ext cx="3840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país fecha 2030 em 81,9%, só 1,9 ponto acima da meta de 80%.</a:t>
            </a:r>
            <a:endParaRPr lang="en-US" sz="1500" dirty="0"/>
          </a:p>
          <a:p>
            <a:pPr indent="0" marL="0">
              <a:buNone/>
            </a:pPr>
            <a:r>
              <a:rPr lang="en-US" sz="8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desaceleração do ritmo atual coloca a meta nacional em risco.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B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isso vira decisão de gestão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4592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8680" y="196596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9659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Priorizar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83464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3.121</a:t>
            </a:r>
            <a:endParaRPr lang="en-US" sz="5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0233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municípios abaixo do patamar nacional, 1.411 em risco crítico — cada um com a explicação do porquê.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334256" y="164592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54296" y="196596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54296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5385816" y="19659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Personalizar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4654296" y="283464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600" dirty="0"/>
          </a:p>
        </p:txBody>
      </p:sp>
      <p:sp>
        <p:nvSpPr>
          <p:cNvPr id="14" name="Text 12"/>
          <p:cNvSpPr txBox="1"/>
          <p:nvPr/>
        </p:nvSpPr>
        <p:spPr>
          <a:xfrm>
            <a:off x="4654296" y="40233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município, cada um respondendo melhor a uma intervenção diferente. Mesmo programa para todos desperdiça orçamento.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19872" y="1645920"/>
            <a:ext cx="3511296" cy="3977640"/>
          </a:xfrm>
          <a:prstGeom prst="roundRect">
            <a:avLst>
              <a:gd name="adj" fmla="val 2604"/>
            </a:avLst>
          </a:prstGeom>
          <a:solidFill>
            <a:srgbClr val="E9F0ED"/>
          </a:solidFill>
          <a:ln w="12700">
            <a:solidFill>
              <a:srgbClr val="E9F0E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439912" y="1965960"/>
            <a:ext cx="566928" cy="566928"/>
          </a:xfrm>
          <a:prstGeom prst="ellipse">
            <a:avLst/>
          </a:prstGeom>
          <a:solidFill>
            <a:srgbClr val="F2B705"/>
          </a:solidFill>
          <a:ln w="12700">
            <a:solidFill>
              <a:srgbClr val="F2B70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439912" y="196596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F3A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171432" y="1965960"/>
            <a:ext cx="2231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F3A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Alocar verba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8439912" y="2834640"/>
            <a:ext cx="287121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3E7A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42%</a:t>
            </a:r>
            <a:endParaRPr lang="en-US" sz="5600" dirty="0"/>
          </a:p>
        </p:txBody>
      </p:sp>
      <p:sp>
        <p:nvSpPr>
          <p:cNvPr id="20" name="Text 18"/>
          <p:cNvSpPr txBox="1"/>
          <p:nvPr/>
        </p:nvSpPr>
        <p:spPr>
          <a:xfrm>
            <a:off x="8439912" y="4023360"/>
            <a:ext cx="2871216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E2B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a taxa média dos 1.200 municípios que o orçamento simulado alcança, contra 63% no país.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F6B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F3A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7F7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informação para agir antes já existe.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78308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B70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é o que fazemos com ela.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48640" y="32461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2E5446"/>
          </a:solidFill>
          <a:ln w="12700">
            <a:solidFill>
              <a:srgbClr val="2E544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4747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Prioriza, não prediz destino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Aponta onde o risco está concentrado no Brasil de hoje. Não extrapola para realidades que não viu.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3246120"/>
            <a:ext cx="5349240" cy="1691640"/>
          </a:xfrm>
          <a:prstGeom prst="roundRect">
            <a:avLst>
              <a:gd name="adj" fmla="val 5405"/>
            </a:avLst>
          </a:prstGeom>
          <a:solidFill>
            <a:srgbClr val="2E5446"/>
          </a:solidFill>
          <a:ln w="12700">
            <a:solidFill>
              <a:srgbClr val="2E544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37960" y="347472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Mostra associação, não causa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37960" y="3931920"/>
            <a:ext cx="4709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D6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padrões são reais nos dados; provar causa exige outro desenho de pesquisa.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544068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7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Oliveira da Silva  ·  RM371958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github.com/Luodev/1IAST-Fase3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0545775" y="640080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FB5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Quem vai ficar para trás? — Tech Challenge Fase 3</dc:title>
  <dc:subject>PptxGenJS Presentation</dc:subject>
  <dc:creator>Lucas Oliveira da Silva</dc:creator>
  <cp:lastModifiedBy>Lucas Oliveira da Silva</cp:lastModifiedBy>
  <cp:revision>1</cp:revision>
  <dcterms:created xsi:type="dcterms:W3CDTF">2026-09-13T23:31:55Z</dcterms:created>
  <dcterms:modified xsi:type="dcterms:W3CDTF">2026-09-13T23:31:55Z</dcterms:modified>
</cp:coreProperties>
</file>